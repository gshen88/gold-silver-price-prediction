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1" r:id="rId3"/>
    <p:sldId id="263" r:id="rId4"/>
    <p:sldId id="262" r:id="rId5"/>
    <p:sldId id="259" r:id="rId6"/>
    <p:sldId id="26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1A9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27"/>
  </p:normalViewPr>
  <p:slideViewPr>
    <p:cSldViewPr snapToGrid="0" snapToObjects="1">
      <p:cViewPr varScale="1">
        <p:scale>
          <a:sx n="110" d="100"/>
          <a:sy n="110" d="100"/>
        </p:scale>
        <p:origin x="6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80C91-C36B-0648-B70C-CBF9E9A90F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B32489-34F4-0A49-B9A7-CA98B6E3E7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BCB8A-FCF6-EF4E-AA10-4673441FB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356BD-3E27-AA45-B4C3-2F80A724C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968EC6-4647-1D43-9632-3E37CF160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3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AE93E-C254-474B-91D6-823AB7ACA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803B3-3AB2-A449-8520-0491D4909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C8A91-3582-6347-927C-2A4322D91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8901F-B57F-0C41-A8C1-06F3012A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2BEBA-66AF-0448-BF01-E4A346F5A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738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3A3F-BEF5-E144-BBD3-E5CA3DEF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E2EBFA-739E-4144-AF93-8A8DD7D81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183B7-1C4B-6543-88D4-F703E2434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599E-987D-CB47-9E4C-810F8FB10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7BB06-13C8-5243-93A0-A6B9DCA71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712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AF9E5-0D46-9649-8F32-C25C31CA4F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47476-466A-C540-B4CF-0797D39C4B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FBA1-6B2D-B643-817B-70D7064F9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707B3F-55F3-6649-A7E3-D28D7E025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528F39-7FE3-184A-8380-BA9348AD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52BB9D-AB29-8E49-AEB2-ADBAF7B1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4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EB069-51F9-B047-87DF-9E853304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D5429-1958-6946-A123-9177CC906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2790B-1609-9445-A9A8-089AECDFFB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99FDDD-81D4-2A44-80E5-5E06A531A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D437C9-073E-D943-9E3B-8922E19E13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6FF32A-A7ED-8B49-BB92-37EA42DF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32D6A4-42D5-034B-B914-0F75BB02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2FEA7C-34AD-E04E-8E77-BA66418A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1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79336-C81B-134C-8C47-014B2B796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061723-A75F-654A-9760-9CBB9FBA0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5084FB-36E5-7C43-ACF0-ADC644025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4D0A3A-13F4-BA45-AFAF-76BC94A32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8066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CF693-A651-254E-96EE-52AEDA4F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498620-552E-D84E-B8ED-F10BA34F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21FC9D-8689-9341-8983-CEB6A22A4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6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BEAEC-ECBE-5C42-BC08-F2C112956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F4CAB-831C-C746-BA9F-29BC59EEE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5218FC-D197-5B4E-9654-9EC77055F4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26D4E-E0C8-F249-BE2C-E42192902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156D1-DD37-BD4A-BF16-024239B7E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2F65F0-FF15-DF44-9C49-B2FAB62BA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1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94433-005B-4D4B-A2AE-61029FC5B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156A29-9FFF-EB47-BD7D-D1078F515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041546-4BA3-F141-9C5B-F9BBB030E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6CC5B5-FC92-3B46-AB90-18E4442CC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38061F-DF45-8648-825C-706652A4B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B7B1A2-E2A2-2643-82C3-1F590D457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8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B2F2-C0E8-0943-926A-A4CA9E6817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FA1AAE-50BE-C442-A2EF-9FFAC99CE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5FE97-73DC-7041-8CB9-281199FE8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7B78B-6412-EB46-A043-FF8641FDC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E6E9DA-8CC0-8E4C-BF4D-5F2B66AE7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493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7EB5F9-3879-E14A-9C45-FFEAD777DC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8D965-BCAA-BF40-A122-B2D67B68D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FD5E2-D154-FC44-AB4C-6AB31479F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38282-D289-9F44-B6E4-11AA7306F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315E34-20C2-0D41-BDDF-A212BA615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490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0F84D5-537C-F34D-B1A6-2A06BBB5D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16B53-B225-E447-B463-6C878138A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829C4-815D-4D49-A35F-C958634C6E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18E95-86E2-AD42-8DC7-F3BDC23A2BD4}" type="datetimeFigureOut">
              <a:rPr lang="en-US" smtClean="0"/>
              <a:t>6/10/19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ED068-948F-2A40-B606-F9DB7985D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C5946-394C-2F41-8BE7-0E581F76B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A94520-9F76-2644-A00D-C00CD68F9D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3568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8B0D-0E01-6D4C-A60F-0FB850FB30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Big Data Federation</a:t>
            </a:r>
            <a:r>
              <a:rPr lang="zh-CN" altLang="en-US" dirty="0"/>
              <a:t> </a:t>
            </a:r>
            <a:br>
              <a:rPr lang="en-US" altLang="zh-CN" dirty="0"/>
            </a:br>
            <a:r>
              <a:rPr lang="en-US" altLang="zh-CN" dirty="0"/>
              <a:t>Coding</a:t>
            </a:r>
            <a:r>
              <a:rPr lang="zh-CN" altLang="en-US" dirty="0"/>
              <a:t> </a:t>
            </a:r>
            <a:r>
              <a:rPr lang="en-US" altLang="zh-CN" dirty="0"/>
              <a:t>Assignment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CFC205-9874-2740-9922-AD3F6756F1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i="1" dirty="0" err="1"/>
              <a:t>Guanming</a:t>
            </a:r>
            <a:r>
              <a:rPr lang="zh-CN" altLang="en-US" i="1" dirty="0"/>
              <a:t> </a:t>
            </a:r>
            <a:r>
              <a:rPr lang="en-US" altLang="zh-CN" i="1" dirty="0"/>
              <a:t>Shen</a:t>
            </a:r>
          </a:p>
          <a:p>
            <a:r>
              <a:rPr lang="en-US" altLang="zh-CN" i="1" dirty="0"/>
              <a:t>gshen3@ucsc.edu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152322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8FFB740E-898E-0B4D-80B2-E1BE751FE0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4763" y="643466"/>
            <a:ext cx="5942473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950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A46D5-DF85-AB4A-AAD8-E9476FEC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8653" y="976999"/>
            <a:ext cx="4926628" cy="1325563"/>
          </a:xfrm>
        </p:spPr>
        <p:txBody>
          <a:bodyPr/>
          <a:lstStyle/>
          <a:p>
            <a:pPr algn="ctr"/>
            <a:r>
              <a:rPr lang="en-US" altLang="zh-CN" dirty="0"/>
              <a:t>Property Summary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A90B6-B387-7944-95FC-8A201CD4E2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8653" y="2506662"/>
            <a:ext cx="4926628" cy="4351338"/>
          </a:xfrm>
        </p:spPr>
        <p:txBody>
          <a:bodyPr>
            <a:normAutofit/>
          </a:bodyPr>
          <a:lstStyle/>
          <a:p>
            <a:r>
              <a:rPr lang="en-US" altLang="zh-CN" sz="2400" dirty="0"/>
              <a:t>Price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both</a:t>
            </a:r>
            <a:r>
              <a:rPr lang="zh-CN" altLang="en-US" sz="2400" dirty="0"/>
              <a:t> </a:t>
            </a:r>
            <a:r>
              <a:rPr lang="en-US" altLang="zh-CN" sz="2400" dirty="0"/>
              <a:t>gold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silver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are</a:t>
            </a:r>
            <a:r>
              <a:rPr lang="zh-CN" altLang="en-US" sz="2400" dirty="0"/>
              <a:t> </a:t>
            </a:r>
            <a:r>
              <a:rPr lang="en-US" altLang="zh-CN" sz="2400" dirty="0"/>
              <a:t>NOT</a:t>
            </a:r>
            <a:r>
              <a:rPr lang="zh-CN" altLang="en-US" sz="2400" dirty="0"/>
              <a:t> </a:t>
            </a:r>
            <a:r>
              <a:rPr lang="en-US" altLang="zh-CN" sz="2400" dirty="0"/>
              <a:t>stationary.</a:t>
            </a:r>
          </a:p>
          <a:p>
            <a:pPr marL="0" indent="0">
              <a:buNone/>
            </a:pPr>
            <a:endParaRPr lang="en-US" altLang="zh-CN" sz="2400" dirty="0"/>
          </a:p>
          <a:p>
            <a:r>
              <a:rPr lang="en-US" altLang="zh-CN" sz="2400" dirty="0"/>
              <a:t>Neither</a:t>
            </a:r>
            <a:r>
              <a:rPr lang="en-US" sz="2400" dirty="0"/>
              <a:t> of them have obvious trend </a:t>
            </a:r>
            <a:r>
              <a:rPr lang="en-US" altLang="zh-CN" sz="2400" dirty="0"/>
              <a:t>or</a:t>
            </a:r>
            <a:r>
              <a:rPr lang="en-US" sz="2400" dirty="0"/>
              <a:t> obvious seasonality.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altLang="zh-CN" sz="2400" dirty="0"/>
              <a:t>Both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them</a:t>
            </a:r>
            <a:r>
              <a:rPr lang="zh-CN" altLang="en-US" sz="2400" dirty="0"/>
              <a:t> </a:t>
            </a:r>
            <a:r>
              <a:rPr lang="en-US" altLang="zh-CN" sz="2400" dirty="0"/>
              <a:t>become</a:t>
            </a:r>
            <a:r>
              <a:rPr lang="zh-CN" altLang="en-US" sz="2400" dirty="0"/>
              <a:t> </a:t>
            </a:r>
            <a:r>
              <a:rPr lang="en-US" altLang="zh-CN" sz="2400" dirty="0"/>
              <a:t>stationary</a:t>
            </a:r>
            <a:r>
              <a:rPr lang="zh-CN" altLang="en-US" sz="2400" dirty="0"/>
              <a:t> </a:t>
            </a:r>
            <a:r>
              <a:rPr lang="en-US" altLang="zh-CN" sz="2400" dirty="0"/>
              <a:t>after</a:t>
            </a:r>
            <a:r>
              <a:rPr lang="zh-CN" altLang="en-US" sz="2400" dirty="0"/>
              <a:t> </a:t>
            </a:r>
            <a:r>
              <a:rPr lang="en-US" altLang="zh-CN" sz="2400" dirty="0"/>
              <a:t>first</a:t>
            </a:r>
            <a:r>
              <a:rPr lang="zh-CN" altLang="en-US" sz="2400" dirty="0"/>
              <a:t> </a:t>
            </a:r>
            <a:r>
              <a:rPr lang="en-US" altLang="zh-CN" sz="2400" dirty="0"/>
              <a:t>order</a:t>
            </a:r>
            <a:r>
              <a:rPr lang="zh-CN" altLang="en-US" sz="2400" dirty="0"/>
              <a:t> </a:t>
            </a:r>
            <a:r>
              <a:rPr lang="en-US" altLang="zh-CN" sz="2400" dirty="0"/>
              <a:t>differencing.</a:t>
            </a:r>
            <a:endParaRPr 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30D4F-4A40-0644-AF67-0A01EEE1D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290" y="748185"/>
            <a:ext cx="6150514" cy="25042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A9B8BD-5CFB-CF4B-9D8E-E2851B9F1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90" y="3684747"/>
            <a:ext cx="6150514" cy="2492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985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9ABB8-EBE9-EE4C-8085-4F1CD260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4620" y="365125"/>
            <a:ext cx="5257800" cy="1325563"/>
          </a:xfrm>
        </p:spPr>
        <p:txBody>
          <a:bodyPr/>
          <a:lstStyle/>
          <a:p>
            <a:pPr algn="ctr"/>
            <a:r>
              <a:rPr lang="en-US" altLang="zh-CN" dirty="0"/>
              <a:t>Conclusion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BE74B-93C8-0C48-B957-C44636C49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34620" y="1690688"/>
            <a:ext cx="5257800" cy="4621212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60000"/>
              </a:lnSpc>
            </a:pPr>
            <a:r>
              <a:rPr lang="en-US" altLang="zh-CN" sz="2400" dirty="0"/>
              <a:t>Firstly,</a:t>
            </a:r>
            <a:r>
              <a:rPr lang="zh-CN" altLang="en-US" sz="2400" dirty="0"/>
              <a:t> </a:t>
            </a:r>
            <a:r>
              <a:rPr lang="en-US" altLang="zh-CN" sz="2400" dirty="0"/>
              <a:t>given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fact</a:t>
            </a:r>
            <a:r>
              <a:rPr lang="zh-CN" altLang="en-US" sz="2400" dirty="0"/>
              <a:t> </a:t>
            </a:r>
            <a:r>
              <a:rPr lang="en-US" altLang="zh-CN" sz="2400" dirty="0"/>
              <a:t>that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only</a:t>
            </a:r>
            <a:r>
              <a:rPr lang="zh-CN" altLang="en-US" sz="2400" dirty="0"/>
              <a:t> </a:t>
            </a:r>
            <a:r>
              <a:rPr lang="en-US" altLang="zh-CN" sz="2400" dirty="0"/>
              <a:t>covers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past</a:t>
            </a:r>
            <a:r>
              <a:rPr lang="zh-CN" altLang="en-US" sz="2400" dirty="0"/>
              <a:t> </a:t>
            </a:r>
            <a:r>
              <a:rPr lang="en-US" altLang="zh-CN" sz="2400" dirty="0"/>
              <a:t>6</a:t>
            </a:r>
            <a:r>
              <a:rPr lang="zh-CN" altLang="en-US" sz="2400" dirty="0"/>
              <a:t> </a:t>
            </a:r>
            <a:r>
              <a:rPr lang="en-US" altLang="zh-CN" sz="2400" dirty="0"/>
              <a:t>months,</a:t>
            </a:r>
            <a:r>
              <a:rPr lang="zh-CN" altLang="en-US" sz="2400" dirty="0"/>
              <a:t> </a:t>
            </a:r>
            <a:r>
              <a:rPr lang="en-US" altLang="zh-CN" sz="2400" dirty="0"/>
              <a:t>it’s</a:t>
            </a:r>
            <a:r>
              <a:rPr lang="zh-CN" altLang="en-US" sz="2400" dirty="0"/>
              <a:t> </a:t>
            </a:r>
            <a:r>
              <a:rPr lang="en-US" altLang="zh-CN" sz="2400" dirty="0"/>
              <a:t>almost</a:t>
            </a:r>
            <a:r>
              <a:rPr lang="zh-CN" altLang="en-US" sz="2400" dirty="0"/>
              <a:t> </a:t>
            </a:r>
            <a:r>
              <a:rPr lang="en-US" altLang="zh-CN" sz="2400" dirty="0"/>
              <a:t>impossible to</a:t>
            </a:r>
            <a:r>
              <a:rPr lang="zh-CN" altLang="en-US" sz="2400" dirty="0"/>
              <a:t> </a:t>
            </a:r>
            <a:r>
              <a:rPr lang="en-US" altLang="zh-CN" sz="2400" dirty="0"/>
              <a:t>analyze</a:t>
            </a:r>
            <a:r>
              <a:rPr lang="zh-CN" altLang="en-US" sz="2400" dirty="0"/>
              <a:t> </a:t>
            </a:r>
            <a:r>
              <a:rPr lang="en-US" altLang="zh-CN" sz="2400" dirty="0"/>
              <a:t>any</a:t>
            </a:r>
            <a:r>
              <a:rPr lang="zh-CN" altLang="en-US" sz="2400" dirty="0"/>
              <a:t> </a:t>
            </a:r>
            <a:r>
              <a:rPr lang="en-US" altLang="zh-CN" sz="2400" dirty="0"/>
              <a:t>seasonality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trend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relatively longer</a:t>
            </a:r>
            <a:r>
              <a:rPr lang="zh-CN" altLang="en-US" sz="2400" dirty="0"/>
              <a:t> </a:t>
            </a:r>
            <a:r>
              <a:rPr lang="en-US" altLang="zh-CN" sz="2400" dirty="0"/>
              <a:t>period,</a:t>
            </a:r>
            <a:r>
              <a:rPr lang="zh-CN" altLang="en-US" sz="2400" dirty="0"/>
              <a:t> </a:t>
            </a:r>
            <a:r>
              <a:rPr lang="en-US" altLang="zh-CN" sz="2400" dirty="0"/>
              <a:t>since</a:t>
            </a:r>
            <a:r>
              <a:rPr lang="zh-CN" altLang="en-US" sz="2400" dirty="0"/>
              <a:t> </a:t>
            </a:r>
            <a:r>
              <a:rPr lang="en-US" altLang="zh-CN" sz="2400" dirty="0"/>
              <a:t>seasonality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trend</a:t>
            </a:r>
            <a:r>
              <a:rPr lang="zh-CN" altLang="en-US" sz="2400" dirty="0"/>
              <a:t> </a:t>
            </a:r>
            <a:r>
              <a:rPr lang="en-US" altLang="zh-CN" sz="2400" dirty="0"/>
              <a:t>are</a:t>
            </a:r>
            <a:r>
              <a:rPr lang="zh-CN" altLang="en-US" sz="2400" dirty="0"/>
              <a:t> </a:t>
            </a:r>
            <a:r>
              <a:rPr lang="en-US" altLang="zh-CN" sz="2400" dirty="0"/>
              <a:t>more</a:t>
            </a:r>
            <a:r>
              <a:rPr lang="zh-CN" altLang="en-US" sz="2400" dirty="0"/>
              <a:t> </a:t>
            </a:r>
            <a:r>
              <a:rPr lang="en-US" altLang="zh-CN" sz="2400" dirty="0"/>
              <a:t>usually analyzed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dataset</a:t>
            </a:r>
            <a:r>
              <a:rPr lang="zh-CN" altLang="en-US" sz="2400" dirty="0"/>
              <a:t> </a:t>
            </a:r>
            <a:r>
              <a:rPr lang="en-US" altLang="zh-CN" sz="2400" dirty="0"/>
              <a:t>that</a:t>
            </a:r>
            <a:r>
              <a:rPr lang="zh-CN" altLang="en-US" sz="2400" dirty="0"/>
              <a:t> </a:t>
            </a:r>
            <a:r>
              <a:rPr lang="en-US" altLang="zh-CN" sz="2400" dirty="0"/>
              <a:t>has</a:t>
            </a:r>
            <a:r>
              <a:rPr lang="zh-CN" altLang="en-US" sz="2400" dirty="0"/>
              <a:t> </a:t>
            </a:r>
            <a:r>
              <a:rPr lang="en-US" altLang="zh-CN" sz="2400" dirty="0"/>
              <a:t>several</a:t>
            </a:r>
            <a:r>
              <a:rPr lang="zh-CN" altLang="en-US" sz="2400" dirty="0"/>
              <a:t> </a:t>
            </a:r>
            <a:r>
              <a:rPr lang="en-US" altLang="zh-CN" sz="2400" dirty="0"/>
              <a:t>years</a:t>
            </a:r>
            <a:r>
              <a:rPr lang="zh-CN" altLang="en-US" sz="2400" dirty="0"/>
              <a:t> </a:t>
            </a:r>
            <a:r>
              <a:rPr lang="en-US" altLang="zh-CN" sz="2400" dirty="0"/>
              <a:t>within</a:t>
            </a:r>
            <a:r>
              <a:rPr lang="zh-CN" altLang="en-US" sz="2400" dirty="0"/>
              <a:t> </a:t>
            </a:r>
            <a:r>
              <a:rPr lang="en-US" altLang="zh-CN" sz="2400" dirty="0"/>
              <a:t>it.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words,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previous</a:t>
            </a:r>
            <a:r>
              <a:rPr lang="zh-CN" altLang="en-US" sz="2400" dirty="0"/>
              <a:t> </a:t>
            </a:r>
            <a:r>
              <a:rPr lang="en-US" altLang="zh-CN" sz="2400" dirty="0"/>
              <a:t>gold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silver</a:t>
            </a:r>
            <a:r>
              <a:rPr lang="zh-CN" altLang="en-US" sz="2400" dirty="0"/>
              <a:t> </a:t>
            </a:r>
            <a:r>
              <a:rPr lang="en-US" altLang="zh-CN" sz="2400" dirty="0"/>
              <a:t>prices</a:t>
            </a:r>
            <a:r>
              <a:rPr lang="zh-CN" altLang="en-US" sz="2400" dirty="0"/>
              <a:t> </a:t>
            </a:r>
            <a:r>
              <a:rPr lang="en-US" altLang="zh-CN" sz="2400" b="1" i="1" u="sng" dirty="0"/>
              <a:t>are</a:t>
            </a:r>
            <a:r>
              <a:rPr lang="zh-CN" altLang="en-US" sz="2400" b="1" i="1" u="sng" dirty="0"/>
              <a:t> </a:t>
            </a:r>
            <a:r>
              <a:rPr lang="en-US" altLang="zh-CN" sz="2400" b="1" i="1" u="sng" dirty="0"/>
              <a:t>useful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predictors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their</a:t>
            </a:r>
            <a:r>
              <a:rPr lang="zh-CN" altLang="en-US" sz="2400" dirty="0"/>
              <a:t> </a:t>
            </a:r>
            <a:r>
              <a:rPr lang="en-US" altLang="zh-CN" sz="2400" dirty="0"/>
              <a:t>future</a:t>
            </a:r>
            <a:r>
              <a:rPr lang="zh-CN" altLang="en-US" sz="2400" dirty="0"/>
              <a:t> </a:t>
            </a:r>
            <a:r>
              <a:rPr lang="en-US" altLang="zh-CN" sz="2400" dirty="0"/>
              <a:t>prices,</a:t>
            </a:r>
            <a:r>
              <a:rPr lang="zh-CN" altLang="en-US" sz="2400" dirty="0"/>
              <a:t> </a:t>
            </a:r>
            <a:r>
              <a:rPr lang="en-US" altLang="zh-CN" sz="2400" dirty="0"/>
              <a:t>but</a:t>
            </a:r>
            <a:r>
              <a:rPr lang="zh-CN" altLang="en-US" sz="2400" dirty="0"/>
              <a:t> </a:t>
            </a:r>
            <a:r>
              <a:rPr lang="en-US" altLang="zh-CN" sz="2400" dirty="0"/>
              <a:t>not</a:t>
            </a:r>
            <a:r>
              <a:rPr lang="zh-CN" altLang="en-US" sz="2400" dirty="0"/>
              <a:t> </a:t>
            </a:r>
            <a:r>
              <a:rPr lang="en-US" altLang="zh-CN" sz="2400" dirty="0"/>
              <a:t>that</a:t>
            </a:r>
            <a:r>
              <a:rPr lang="zh-CN" altLang="en-US" sz="2400" dirty="0"/>
              <a:t> </a:t>
            </a:r>
            <a:r>
              <a:rPr lang="en-US" altLang="zh-CN" sz="2400" dirty="0"/>
              <a:t>kind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useful,</a:t>
            </a:r>
            <a:r>
              <a:rPr lang="zh-CN" altLang="en-US" sz="2400" dirty="0"/>
              <a:t> </a:t>
            </a:r>
            <a:r>
              <a:rPr lang="en-US" altLang="zh-CN" sz="2400" dirty="0"/>
              <a:t>let’s</a:t>
            </a:r>
            <a:r>
              <a:rPr lang="zh-CN" altLang="en-US" sz="2400" dirty="0"/>
              <a:t> </a:t>
            </a:r>
            <a:r>
              <a:rPr lang="en-US" altLang="zh-CN" sz="2400" dirty="0"/>
              <a:t>say,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more</a:t>
            </a:r>
            <a:r>
              <a:rPr lang="zh-CN" altLang="en-US" sz="2400" dirty="0"/>
              <a:t> </a:t>
            </a:r>
            <a:r>
              <a:rPr lang="en-US" altLang="zh-CN" sz="2400" dirty="0"/>
              <a:t>quantitative</a:t>
            </a:r>
            <a:r>
              <a:rPr lang="zh-CN" altLang="en-US" sz="2400" dirty="0"/>
              <a:t> </a:t>
            </a:r>
            <a:r>
              <a:rPr lang="en-US" altLang="zh-CN" sz="2400" dirty="0"/>
              <a:t>way.</a:t>
            </a:r>
          </a:p>
          <a:p>
            <a:pPr>
              <a:lnSpc>
                <a:spcPct val="160000"/>
              </a:lnSpc>
            </a:pPr>
            <a:r>
              <a:rPr lang="en-US" altLang="zh-CN" sz="2400" dirty="0"/>
              <a:t>Secondly,</a:t>
            </a:r>
            <a:r>
              <a:rPr lang="zh-CN" altLang="en-US" sz="2400" dirty="0"/>
              <a:t> </a:t>
            </a:r>
            <a:r>
              <a:rPr lang="en-US" altLang="zh-CN" sz="2400" dirty="0"/>
              <a:t>past</a:t>
            </a:r>
            <a:r>
              <a:rPr lang="zh-CN" altLang="en-US" sz="2400" dirty="0"/>
              <a:t> </a:t>
            </a:r>
            <a:r>
              <a:rPr lang="en-US" altLang="zh-CN" sz="2400" dirty="0"/>
              <a:t>prices</a:t>
            </a:r>
            <a:r>
              <a:rPr lang="zh-CN" altLang="en-US" sz="2400" dirty="0"/>
              <a:t> </a:t>
            </a:r>
            <a:r>
              <a:rPr lang="en-US" altLang="zh-CN" sz="2400" b="1" i="1" u="sng" dirty="0"/>
              <a:t>are</a:t>
            </a:r>
            <a:r>
              <a:rPr lang="zh-CN" altLang="en-US" sz="2400" b="1" i="1" u="sng" dirty="0"/>
              <a:t> </a:t>
            </a:r>
            <a:r>
              <a:rPr lang="en-US" altLang="zh-CN" sz="2400" b="1" i="1" u="sng" dirty="0"/>
              <a:t>useful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predicting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direction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changes</a:t>
            </a:r>
            <a:r>
              <a:rPr lang="zh-CN" altLang="en-US" sz="2400" dirty="0"/>
              <a:t> </a:t>
            </a:r>
            <a:r>
              <a:rPr lang="en-US" altLang="zh-CN" sz="2400" dirty="0"/>
              <a:t>(increase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decrease),</a:t>
            </a:r>
            <a:r>
              <a:rPr lang="zh-CN" altLang="en-US" sz="2400" dirty="0"/>
              <a:t> </a:t>
            </a:r>
            <a:r>
              <a:rPr lang="en-US" altLang="zh-CN" sz="2400" dirty="0"/>
              <a:t>but</a:t>
            </a:r>
            <a:r>
              <a:rPr lang="zh-CN" altLang="en-US" sz="2400" dirty="0"/>
              <a:t> </a:t>
            </a:r>
            <a:r>
              <a:rPr lang="en-US" altLang="zh-CN" sz="2400" dirty="0"/>
              <a:t>only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prediction for</a:t>
            </a:r>
            <a:r>
              <a:rPr lang="zh-CN" altLang="en-US" sz="2400" dirty="0"/>
              <a:t> </a:t>
            </a:r>
            <a:r>
              <a:rPr lang="en-US" altLang="zh-CN" sz="2400" dirty="0"/>
              <a:t>a</a:t>
            </a:r>
            <a:r>
              <a:rPr lang="zh-CN" altLang="en-US" sz="2400" dirty="0"/>
              <a:t> </a:t>
            </a:r>
            <a:r>
              <a:rPr lang="en-US" altLang="zh-CN" sz="2400" dirty="0"/>
              <a:t>short</a:t>
            </a:r>
            <a:r>
              <a:rPr lang="zh-CN" altLang="en-US" sz="2400" dirty="0"/>
              <a:t> </a:t>
            </a:r>
            <a:r>
              <a:rPr lang="en-US" altLang="zh-CN" sz="2400" dirty="0"/>
              <a:t>period</a:t>
            </a:r>
            <a:r>
              <a:rPr lang="zh-CN" altLang="en-US" sz="2400" dirty="0"/>
              <a:t> </a:t>
            </a:r>
            <a:r>
              <a:rPr lang="en-US" altLang="zh-CN" sz="2400" dirty="0"/>
              <a:t>in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future.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0960476-DE5C-AE42-BB0C-96962F5F1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365125"/>
            <a:ext cx="5676900" cy="2946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F3B55A-CA89-5741-9D2E-494628CA1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" y="3365500"/>
            <a:ext cx="5676900" cy="294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52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8D5B1-604C-7E44-94D1-C3D9C5DA6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Final Notes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AE5D7F-0ABD-D644-BDCA-28B85BED7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655" y="1690688"/>
            <a:ext cx="9434689" cy="4630385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en-US" altLang="zh-CN" sz="1600" dirty="0"/>
              <a:t>The prediction result can</a:t>
            </a:r>
            <a:r>
              <a:rPr lang="zh-CN" altLang="en-US" sz="1600" dirty="0"/>
              <a:t> </a:t>
            </a:r>
            <a:r>
              <a:rPr lang="en-US" altLang="zh-CN" sz="1600" dirty="0"/>
              <a:t>always be further refined</a:t>
            </a:r>
            <a:r>
              <a:rPr lang="zh-CN" altLang="en-US" sz="1600" dirty="0"/>
              <a:t> </a:t>
            </a:r>
            <a:r>
              <a:rPr lang="en-US" altLang="zh-CN" sz="1600" dirty="0"/>
              <a:t>by</a:t>
            </a:r>
            <a:r>
              <a:rPr lang="zh-CN" altLang="en-US" sz="1600" dirty="0"/>
              <a:t> </a:t>
            </a:r>
            <a:r>
              <a:rPr lang="en-US" altLang="zh-CN" sz="1600" dirty="0"/>
              <a:t>constantly updating model parameters to get a better model</a:t>
            </a:r>
            <a:r>
              <a:rPr lang="zh-CN" altLang="en-US" sz="1600" dirty="0"/>
              <a:t> </a:t>
            </a:r>
            <a:r>
              <a:rPr lang="en-US" altLang="zh-CN" sz="1600" dirty="0"/>
              <a:t>or</a:t>
            </a:r>
            <a:r>
              <a:rPr lang="zh-CN" altLang="en-US" sz="1600" dirty="0"/>
              <a:t> </a:t>
            </a:r>
            <a:r>
              <a:rPr lang="en-US" altLang="zh-CN" sz="1600" dirty="0"/>
              <a:t>even</a:t>
            </a:r>
            <a:r>
              <a:rPr lang="zh-CN" altLang="en-US" sz="1600" dirty="0"/>
              <a:t> </a:t>
            </a:r>
            <a:r>
              <a:rPr lang="en-US" altLang="zh-CN" sz="1600" dirty="0"/>
              <a:t>applying</a:t>
            </a:r>
            <a:r>
              <a:rPr lang="zh-CN" altLang="en-US" sz="1600" dirty="0"/>
              <a:t> </a:t>
            </a:r>
            <a:r>
              <a:rPr lang="en-US" altLang="zh-CN" sz="1600" dirty="0"/>
              <a:t>other</a:t>
            </a:r>
            <a:r>
              <a:rPr lang="zh-CN" altLang="en-US" sz="1600" dirty="0"/>
              <a:t> </a:t>
            </a:r>
            <a:r>
              <a:rPr lang="en-US" altLang="zh-CN" sz="1600" dirty="0"/>
              <a:t>models</a:t>
            </a:r>
            <a:r>
              <a:rPr lang="zh-CN" altLang="en-US" sz="1600" dirty="0"/>
              <a:t> </a:t>
            </a:r>
            <a:r>
              <a:rPr lang="en-US" altLang="zh-CN" sz="1600" dirty="0"/>
              <a:t>like</a:t>
            </a:r>
            <a:r>
              <a:rPr lang="zh-CN" altLang="en-US" sz="1600" dirty="0"/>
              <a:t> </a:t>
            </a:r>
            <a:r>
              <a:rPr lang="en-US" altLang="zh-CN" sz="1600" dirty="0"/>
              <a:t>LSTM. However,</a:t>
            </a:r>
            <a:r>
              <a:rPr lang="zh-CN" altLang="en-US" sz="1600" dirty="0"/>
              <a:t> </a:t>
            </a:r>
            <a:r>
              <a:rPr lang="en-US" altLang="zh-CN" sz="1600" dirty="0"/>
              <a:t>the scope of the </a:t>
            </a:r>
            <a:r>
              <a:rPr lang="en-US" altLang="zh-CN" sz="1600" b="1" i="1" u="sng" dirty="0"/>
              <a:t>.</a:t>
            </a:r>
            <a:r>
              <a:rPr lang="en-US" altLang="zh-CN" sz="1600" b="1" i="1" u="sng" dirty="0" err="1"/>
              <a:t>ipynp</a:t>
            </a:r>
            <a:r>
              <a:rPr lang="zh-CN" altLang="en-US" sz="1600" b="1" i="1" u="sng" dirty="0"/>
              <a:t> </a:t>
            </a:r>
            <a:r>
              <a:rPr lang="en-US" altLang="zh-CN" sz="1600" b="1" i="1" u="sng" dirty="0"/>
              <a:t>file</a:t>
            </a:r>
            <a:r>
              <a:rPr lang="en-US" altLang="zh-CN" sz="1600" dirty="0"/>
              <a:t> is to answer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questions</a:t>
            </a:r>
            <a:r>
              <a:rPr lang="zh-CN" altLang="en-US" sz="1600" dirty="0"/>
              <a:t> </a:t>
            </a:r>
            <a:r>
              <a:rPr lang="en-US" altLang="zh-CN" sz="1600" dirty="0"/>
              <a:t>of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assignment</a:t>
            </a:r>
            <a:r>
              <a:rPr lang="zh-CN" altLang="en-US" sz="1600" dirty="0"/>
              <a:t> </a:t>
            </a:r>
            <a:r>
              <a:rPr lang="en-US" altLang="zh-CN" sz="1600" dirty="0"/>
              <a:t>rather</a:t>
            </a:r>
            <a:r>
              <a:rPr lang="zh-CN" altLang="en-US" sz="1600" dirty="0"/>
              <a:t> </a:t>
            </a:r>
            <a:r>
              <a:rPr lang="en-US" altLang="zh-CN" sz="1600" dirty="0"/>
              <a:t>quantitatively.</a:t>
            </a:r>
            <a:r>
              <a:rPr lang="zh-CN" altLang="en-US" sz="1600" dirty="0"/>
              <a:t> </a:t>
            </a:r>
            <a:r>
              <a:rPr lang="en-US" altLang="zh-CN" sz="1600" dirty="0"/>
              <a:t>What’s</a:t>
            </a:r>
            <a:r>
              <a:rPr lang="zh-CN" altLang="en-US" sz="1600" dirty="0"/>
              <a:t> </a:t>
            </a:r>
            <a:r>
              <a:rPr lang="en-US" altLang="zh-CN" sz="1600" dirty="0"/>
              <a:t>more,</a:t>
            </a:r>
            <a:r>
              <a:rPr lang="zh-CN" altLang="en-US" sz="1600" dirty="0"/>
              <a:t> </a:t>
            </a:r>
            <a:r>
              <a:rPr lang="en-US" altLang="zh-CN" sz="1600" dirty="0"/>
              <a:t>the sole purpose of forecasting prices via ARIMA</a:t>
            </a:r>
            <a:r>
              <a:rPr lang="zh-CN" altLang="en-US" sz="1600" dirty="0"/>
              <a:t> </a:t>
            </a:r>
            <a:r>
              <a:rPr lang="en-US" altLang="zh-CN" sz="1600" dirty="0"/>
              <a:t>model is to help explain</a:t>
            </a:r>
            <a:r>
              <a:rPr lang="zh-CN" altLang="en-US" sz="1600" dirty="0"/>
              <a:t> </a:t>
            </a:r>
            <a:r>
              <a:rPr lang="en-US" altLang="zh-CN" sz="1600" dirty="0"/>
              <a:t>my</a:t>
            </a:r>
            <a:r>
              <a:rPr lang="zh-CN" altLang="en-US" sz="1600" dirty="0"/>
              <a:t> </a:t>
            </a:r>
            <a:r>
              <a:rPr lang="en-US" altLang="zh-CN" sz="1600" dirty="0"/>
              <a:t>answers</a:t>
            </a:r>
            <a:r>
              <a:rPr lang="zh-CN" altLang="en-US" sz="1600" dirty="0"/>
              <a:t> </a:t>
            </a:r>
            <a:r>
              <a:rPr lang="en-US" altLang="zh-CN" sz="1600" dirty="0"/>
              <a:t>in</a:t>
            </a:r>
            <a:r>
              <a:rPr lang="zh-CN" altLang="en-US" sz="1600" dirty="0"/>
              <a:t> </a:t>
            </a:r>
            <a:r>
              <a:rPr lang="en-US" altLang="zh-CN" sz="1600" dirty="0"/>
              <a:t>a</a:t>
            </a:r>
            <a:r>
              <a:rPr lang="zh-CN" altLang="en-US" sz="1600" dirty="0"/>
              <a:t> </a:t>
            </a:r>
            <a:r>
              <a:rPr lang="en-US" altLang="zh-CN" sz="1600" dirty="0"/>
              <a:t>much</a:t>
            </a:r>
            <a:r>
              <a:rPr lang="zh-CN" altLang="en-US" sz="1600" dirty="0"/>
              <a:t> </a:t>
            </a:r>
            <a:r>
              <a:rPr lang="en-US" altLang="zh-CN" sz="1600" dirty="0"/>
              <a:t>more</a:t>
            </a:r>
            <a:r>
              <a:rPr lang="zh-CN" altLang="en-US" sz="1600" dirty="0"/>
              <a:t> </a:t>
            </a:r>
            <a:r>
              <a:rPr lang="en-US" altLang="zh-CN" sz="1600" dirty="0"/>
              <a:t>specific and</a:t>
            </a:r>
            <a:r>
              <a:rPr lang="zh-CN" altLang="en-US" sz="1600" dirty="0"/>
              <a:t> </a:t>
            </a:r>
            <a:r>
              <a:rPr lang="en-US" altLang="zh-CN" sz="1600" dirty="0"/>
              <a:t> and</a:t>
            </a:r>
            <a:r>
              <a:rPr lang="zh-CN" altLang="en-US" sz="1600" dirty="0"/>
              <a:t> </a:t>
            </a:r>
            <a:r>
              <a:rPr lang="en-US" altLang="zh-CN" sz="1600" dirty="0"/>
              <a:t>visualized</a:t>
            </a:r>
            <a:r>
              <a:rPr lang="zh-CN" altLang="en-US" sz="1600" dirty="0"/>
              <a:t> </a:t>
            </a:r>
            <a:r>
              <a:rPr lang="en-US" altLang="zh-CN" sz="1600" dirty="0"/>
              <a:t>way.</a:t>
            </a:r>
          </a:p>
          <a:p>
            <a:pPr>
              <a:lnSpc>
                <a:spcPct val="170000"/>
              </a:lnSpc>
            </a:pPr>
            <a:r>
              <a:rPr lang="en-US" altLang="zh-CN" sz="1600" dirty="0"/>
              <a:t>Gold</a:t>
            </a:r>
            <a:r>
              <a:rPr lang="zh-CN" altLang="en-US" sz="1600" dirty="0"/>
              <a:t> </a:t>
            </a:r>
            <a:r>
              <a:rPr lang="en-US" altLang="zh-CN" sz="1600" dirty="0"/>
              <a:t>and</a:t>
            </a:r>
            <a:r>
              <a:rPr lang="zh-CN" altLang="en-US" sz="1600" dirty="0"/>
              <a:t> </a:t>
            </a:r>
            <a:r>
              <a:rPr lang="en-US" altLang="zh-CN" sz="1600" dirty="0"/>
              <a:t>silver</a:t>
            </a:r>
            <a:r>
              <a:rPr lang="zh-CN" altLang="en-US" sz="1600" dirty="0"/>
              <a:t> </a:t>
            </a:r>
            <a:r>
              <a:rPr lang="en-US" altLang="zh-CN" sz="1600" dirty="0"/>
              <a:t>prices</a:t>
            </a:r>
            <a:r>
              <a:rPr lang="zh-CN" altLang="en-US" sz="1600" dirty="0"/>
              <a:t> </a:t>
            </a:r>
            <a:r>
              <a:rPr lang="en-US" altLang="zh-CN" sz="1600" dirty="0"/>
              <a:t>can move in any direction which</a:t>
            </a:r>
            <a:r>
              <a:rPr lang="zh-CN" altLang="en-US" sz="1600" dirty="0"/>
              <a:t> </a:t>
            </a:r>
            <a:r>
              <a:rPr lang="en-US" altLang="zh-CN" sz="1600" dirty="0"/>
              <a:t>makes it very hard, if not impossible, to accurately predict them. Forecasted gold</a:t>
            </a:r>
            <a:r>
              <a:rPr lang="zh-CN" altLang="en-US" sz="1600" dirty="0"/>
              <a:t> </a:t>
            </a:r>
            <a:r>
              <a:rPr lang="en-US" altLang="zh-CN" sz="1600" dirty="0"/>
              <a:t>or</a:t>
            </a:r>
            <a:r>
              <a:rPr lang="zh-CN" altLang="en-US" sz="1600" dirty="0"/>
              <a:t> </a:t>
            </a:r>
            <a:r>
              <a:rPr lang="en-US" altLang="zh-CN" sz="1600" dirty="0"/>
              <a:t>silver</a:t>
            </a:r>
            <a:r>
              <a:rPr lang="zh-CN" altLang="en-US" sz="1600" dirty="0"/>
              <a:t> </a:t>
            </a:r>
            <a:r>
              <a:rPr lang="en-US" altLang="zh-CN" sz="1600" dirty="0"/>
              <a:t>prices are dependent on the assumptions imposed by ARIMA model which are based on auto regression, integrated and moving average concepts.</a:t>
            </a:r>
          </a:p>
          <a:p>
            <a:pPr>
              <a:lnSpc>
                <a:spcPct val="170000"/>
              </a:lnSpc>
            </a:pP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/>
              <a:t>simple example demonstrated</a:t>
            </a:r>
            <a:r>
              <a:rPr lang="zh-CN" altLang="en-US" sz="1600" dirty="0"/>
              <a:t> </a:t>
            </a:r>
            <a:r>
              <a:rPr lang="en-US" altLang="zh-CN" sz="1600" dirty="0"/>
              <a:t>in</a:t>
            </a:r>
            <a:r>
              <a:rPr lang="zh-CN" altLang="en-US" sz="1600" dirty="0"/>
              <a:t> </a:t>
            </a:r>
            <a:r>
              <a:rPr lang="en-US" altLang="zh-CN" sz="1600" dirty="0"/>
              <a:t>the</a:t>
            </a:r>
            <a:r>
              <a:rPr lang="zh-CN" altLang="en-US" sz="1600" dirty="0"/>
              <a:t> </a:t>
            </a:r>
            <a:r>
              <a:rPr lang="en-US" altLang="zh-CN" sz="1600" dirty="0" err="1"/>
              <a:t>jupyter</a:t>
            </a:r>
            <a:r>
              <a:rPr lang="zh-CN" altLang="en-US" sz="1600" dirty="0"/>
              <a:t> </a:t>
            </a:r>
            <a:r>
              <a:rPr lang="en-US" altLang="zh-CN" sz="1600" dirty="0"/>
              <a:t>notebook can be useful for forecasting movements of gold</a:t>
            </a:r>
            <a:r>
              <a:rPr lang="zh-CN" altLang="en-US" sz="1600" dirty="0"/>
              <a:t> </a:t>
            </a:r>
            <a:r>
              <a:rPr lang="en-US" altLang="zh-CN" sz="1600" dirty="0"/>
              <a:t>and</a:t>
            </a:r>
            <a:r>
              <a:rPr lang="zh-CN" altLang="en-US" sz="1600" dirty="0"/>
              <a:t> </a:t>
            </a:r>
            <a:r>
              <a:rPr lang="en-US" altLang="zh-CN" sz="1600" dirty="0"/>
              <a:t>silver</a:t>
            </a:r>
            <a:r>
              <a:rPr lang="zh-CN" altLang="en-US" sz="1600" dirty="0"/>
              <a:t> </a:t>
            </a:r>
            <a:r>
              <a:rPr lang="en-US" altLang="zh-CN" sz="1600" dirty="0"/>
              <a:t>prices in which past </a:t>
            </a:r>
            <a:r>
              <a:rPr lang="en-US" altLang="zh-CN" sz="1600" dirty="0" err="1"/>
              <a:t>behaviour</a:t>
            </a:r>
            <a:r>
              <a:rPr lang="en-US" altLang="zh-CN" sz="1600" dirty="0"/>
              <a:t> dictates present and values.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56553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4BB1-6BCD-A344-93B0-57E91545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325915"/>
            <a:ext cx="10515600" cy="2852737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Please</a:t>
            </a:r>
            <a:r>
              <a:rPr lang="zh-CN" altLang="en-US" sz="4800" dirty="0"/>
              <a:t> </a:t>
            </a:r>
            <a:r>
              <a:rPr lang="en-US" altLang="zh-CN" sz="4800" dirty="0"/>
              <a:t>check</a:t>
            </a:r>
            <a:r>
              <a:rPr lang="zh-CN" altLang="en-US" sz="4800" dirty="0"/>
              <a:t> </a:t>
            </a:r>
            <a:r>
              <a:rPr lang="en-US" altLang="zh-CN" sz="4800" dirty="0"/>
              <a:t>the</a:t>
            </a:r>
            <a:r>
              <a:rPr lang="zh-CN" altLang="en-US" sz="4800" dirty="0"/>
              <a:t> </a:t>
            </a:r>
            <a:r>
              <a:rPr lang="en-US" altLang="zh-CN" sz="4800" dirty="0" err="1"/>
              <a:t>ipynb</a:t>
            </a:r>
            <a:r>
              <a:rPr lang="zh-CN" altLang="en-US" sz="4800" dirty="0"/>
              <a:t> </a:t>
            </a:r>
            <a:r>
              <a:rPr lang="en-US" altLang="zh-CN" sz="4800" dirty="0"/>
              <a:t>file</a:t>
            </a:r>
            <a:r>
              <a:rPr lang="zh-CN" altLang="en-US" sz="4800" dirty="0"/>
              <a:t> </a:t>
            </a:r>
            <a:r>
              <a:rPr lang="en-US" altLang="zh-CN" sz="4800" dirty="0"/>
              <a:t>for</a:t>
            </a:r>
            <a:r>
              <a:rPr lang="zh-CN" altLang="en-US" sz="4800" dirty="0"/>
              <a:t> </a:t>
            </a:r>
            <a:br>
              <a:rPr lang="en-US" altLang="zh-CN" sz="4800" dirty="0"/>
            </a:br>
            <a:r>
              <a:rPr lang="en-US" altLang="zh-CN" sz="4400" dirty="0"/>
              <a:t>detailed analysis</a:t>
            </a:r>
            <a:r>
              <a:rPr lang="zh-CN" altLang="en-US" sz="4400" dirty="0"/>
              <a:t> </a:t>
            </a:r>
            <a:r>
              <a:rPr lang="en-US" altLang="zh-CN" sz="4400" dirty="0"/>
              <a:t>&amp;</a:t>
            </a:r>
            <a:r>
              <a:rPr lang="zh-CN" altLang="en-US" sz="4400" dirty="0"/>
              <a:t> </a:t>
            </a:r>
            <a:r>
              <a:rPr lang="en-US" altLang="zh-CN" sz="4400" dirty="0"/>
              <a:t>explanation</a:t>
            </a:r>
            <a:endParaRPr lang="en-US" sz="44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EF3BB-2133-B641-AF2C-538D7E386D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Thank</a:t>
            </a:r>
            <a:r>
              <a:rPr lang="zh-CN" altLang="en-US" dirty="0"/>
              <a:t> </a:t>
            </a:r>
            <a:r>
              <a:rPr lang="en-US" altLang="zh-CN" dirty="0"/>
              <a:t>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3350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320</Words>
  <Application>Microsoft Macintosh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等线</vt:lpstr>
      <vt:lpstr>等线 Light</vt:lpstr>
      <vt:lpstr>Arial</vt:lpstr>
      <vt:lpstr>Calibri</vt:lpstr>
      <vt:lpstr>Calibri Light</vt:lpstr>
      <vt:lpstr>Office Theme</vt:lpstr>
      <vt:lpstr>Big Data Federation  Coding Assignment</vt:lpstr>
      <vt:lpstr>PowerPoint Presentation</vt:lpstr>
      <vt:lpstr>Property Summary</vt:lpstr>
      <vt:lpstr>Conclusion</vt:lpstr>
      <vt:lpstr>Final Notes</vt:lpstr>
      <vt:lpstr>Please check the ipynb file for  detailed analysis &amp; explanation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15</cp:revision>
  <dcterms:created xsi:type="dcterms:W3CDTF">2019-06-10T08:26:20Z</dcterms:created>
  <dcterms:modified xsi:type="dcterms:W3CDTF">2019-06-10T10:44:25Z</dcterms:modified>
</cp:coreProperties>
</file>